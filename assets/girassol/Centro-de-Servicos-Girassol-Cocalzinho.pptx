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Obrigado pelo tempo. Antes de qualquer coisa, eu queria propor um exercício: por alguns minutos, esqueçam que existe um projeto para aprovar. Eu quero mostrar um raciocínio — o mesmo raciocínio que qualquer urbanista faz antes de desenhar qualquer coisa no papel.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grande ciclo de desenvolvimento começa do mesmo jeito: silenciosamente. Antes de aparecer nos jornais, ele já está acontecendo no território. Eu não vou começar falando de um projeto. Vou começar falando de um movimento — porque é dentro dele que esse projeto faz sentido.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 últimos anos, a região que envolve o Distrito Federal deixou de ser apenas um conjunto de cidades-dormitório. Ela está se tornando um dos eixos mais dinâmicos do Centro-Oeste — em população, em consumo, em logística.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o Centro-Oeste, de forma geral, está deixando de ser apenas celeiro de produção para se tornar também um nó de distribuição. Energia, grãos, indústria e serviços caminhando na mesma direção.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Alguns sinais desse movimento já são públicos. Vale colocá-los lado a lado, porque isoladamente eles parecem notícias soltas — mas juntos, contam uma história.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Nenhum desses pontos, isoladamente, é surpreendente. Mas juntos, eles desenham um padrão: infraestrutura, indústria e capital se movendo na mesma direção, ao longo dos mesmos corredores rodoviários. E corredores rodoviários sempre passam por cidades específicas — nunca por todas.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(pausa) Essa é a pergunta que toda cidade nesse raio precisa responder. Corredores econômicos não distribuem valor de forma automática — eles distribuem valor para quem se posiciona antes dos outros.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Cocalzinho está posicionada exatamente sobre esse corredor — na BR-070, no caminho entre Brasília e o interior do Centro-Oeste. Essa não é uma posição qualquer. É a posição que, historicamente, decide quais cidades crescem junto com a infraestrutura, e quais ficam à margem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dias, esse trecho da BR-070 é cruzado por famílias, produtores rurais, transportadoras e caminhões que ligam a produção do campo aos centros de consumo. Cocalzinho não está perto desse movimento — ela está dentro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uma regra básica de planejamento territorial: fluxo sem infraestrutura de apoio gera desgaste — para quem viaja, para quem transporta, e para a própria rodovia.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uma lacuna visível para quem observa o dia a dia da rodovia — e uma lacuna que tende a crescer junto com o corredor que acabamos de descrever. Toda cidade que resolve esse tipo de lacuna primeiro sai na frente.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(silêncio — deixe a imagem falar) Isso é o Centro de Serviços Girassol.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nome simples, para uma peça de infraestrutura. Vamos entender exatamente o que ela é — e, principalmente, o que ela não 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importante entender o que essa estrutura realmente é. Ela nasce da leitura desse território — não é um comércio isolado, é uma peça de infraestrutura desenhada para dar suporte a quem move a economia da região todos os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Oito frentes, uma mesma estrutura. Transportadores encontram apoio real para operar com segurança. O agronegócio ganha um ponto de escoamento mais eficiente. Famílias em viagem encontram um lugar preparado para parar. E tudo isso, ao mesmo tempo, movimenta a economia local, gera segurança viária e integra a região.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Repare na escala da cobertura e na organização do fluxo de veículos pesados e leves em áreas distintas — isso não é acidental, é desenho de circulação.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paisagismo não é decoração. Ele qualifica o espaço público que a estrutura devolve à cidade — sombra, permanência, identidade.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acesso foi pensado para separar quem chega para abastecer, quem chega para descansar e quem apenas passa. É engenharia de tráfego aplicada em pequena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E, no conjunto, uma estrutura horizontal, discreta, que dialoga com a paisagem rural em vez de competir com 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olhar com atenção para o que essa estrutura devolve à cidade — porque nenhum desses pontos, veremos, tem como centro a iniciativa privada.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Repare que, em nenhum desses pontos, o benefício central é da iniciativa privada. O benefício central é da cidade. A estrutura é o meio. Cocalzinho é o fim.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tipo de projeto só se torna real quando poder público e iniciativa privada olham na mesma direção — cada um contribuindo com o que sabe fazer melhor.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um lado, o município contribui com apoio pontual e institucional — nada além disso. Do outro, todo o investimento, a execução e a operação ficam a cargo da iniciativa privada. É uma parceria enxuta, mas estrategicamente decisiva para destravar 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caminho curto e objetivo. Estamos prontos para avançar assim que houver o alinhamento institucional necessário.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(devagar) As grandes cidades não crescem por acaso. Elas crescem porque alguém decidiu acreditar antes dos outros.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futuro não espera. Apenas recompensa quem se prepara para ele. E hoje, aqui, temos exatamente essa oportunidade — não a de autorizar um investimento privado, mas a de posicionar Cocalzinho de Goiás no próximo ciclo de desenvolvimento do Entorno.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Cocalzinho de Goiás. Pronta para o que vem a seguir. Obrigado — e vamos, juntos, desenhar essa próxima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Obrigado pela atenção. Fico à disposição para aprofundar qualquer ponto técnico, de engenharia ou de cronograma.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600" kern="0" dirty="0">
                <a:solidFill>
                  <a:srgbClr val="8F8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SERVIÇOS GIRASSOL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B9B7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Cocalzinho de Goiás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880360"/>
            <a:ext cx="103628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mundo está mudando.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775808" y="4892040"/>
            <a:ext cx="640080" cy="0"/>
          </a:xfrm>
          <a:prstGeom prst="line">
            <a:avLst/>
          </a:prstGeom>
          <a:noFill/>
          <a:ln w="25400">
            <a:solidFill>
              <a:srgbClr val="C81E1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880360"/>
            <a:ext cx="103628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Entorno de Brasília está mudando.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775808" y="4892040"/>
            <a:ext cx="640080" cy="0"/>
          </a:xfrm>
          <a:prstGeom prst="line">
            <a:avLst/>
          </a:prstGeom>
          <a:noFill/>
          <a:ln w="25400">
            <a:solidFill>
              <a:srgbClr val="C81E1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880360"/>
            <a:ext cx="103628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Centro-Oeste está entrando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uma nova fase.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775808" y="4892040"/>
            <a:ext cx="640080" cy="0"/>
          </a:xfrm>
          <a:prstGeom prst="line">
            <a:avLst/>
          </a:prstGeom>
          <a:noFill/>
          <a:ln w="25400">
            <a:solidFill>
              <a:srgbClr val="C81E1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NOVO CORREDOR ECONÔMICO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324612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9B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se formando ao redor de Brasília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8F8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OPORTUNIDADE</a:t>
            </a:r>
            <a:endParaRPr lang="en-US" sz="1100" dirty="0"/>
          </a:p>
        </p:txBody>
      </p:sp>
      <p:pic>
        <p:nvPicPr>
          <p:cNvPr id="3" name="Image 0" descr="icons/pin-C81E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57400"/>
            <a:ext cx="54557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aeroporto em estudo para Águas Lindas de Goiás</a:t>
            </a:r>
            <a:endParaRPr lang="en-US" sz="1700" dirty="0"/>
          </a:p>
        </p:txBody>
      </p:sp>
      <p:pic>
        <p:nvPicPr>
          <p:cNvPr id="5" name="Image 1" descr="icons/layers-C81E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608" y="1371600"/>
            <a:ext cx="502920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61608" y="2057400"/>
            <a:ext cx="54557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de polos industriais no Entorno do DF</a:t>
            </a:r>
            <a:endParaRPr lang="en-US" sz="1700" dirty="0"/>
          </a:p>
        </p:txBody>
      </p:sp>
      <p:pic>
        <p:nvPicPr>
          <p:cNvPr id="7" name="Image 2" descr="icons/trend-C81E1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69080"/>
            <a:ext cx="502920" cy="5029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080" y="4754880"/>
            <a:ext cx="54557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 internacionais mirando a cadeia logística do Centro-Oeste</a:t>
            </a:r>
            <a:endParaRPr lang="en-US" sz="1700" dirty="0"/>
          </a:p>
        </p:txBody>
      </p:sp>
      <p:pic>
        <p:nvPicPr>
          <p:cNvPr id="9" name="Image 3" descr="icons/compass-C81E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608" y="406908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61608" y="4754880"/>
            <a:ext cx="54557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BR-070 como eixo entre Brasília, o Centro-Oeste e o Mato Grosso</a:t>
            </a:r>
            <a:endParaRPr lang="en-US" sz="1700" dirty="0"/>
          </a:p>
        </p:txBody>
      </p:sp>
      <p:sp>
        <p:nvSpPr>
          <p:cNvPr id="12" name="Text 5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rgbClr val="8F8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2788920"/>
            <a:ext cx="103628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estará preparado?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775808" y="4892040"/>
            <a:ext cx="640080" cy="0"/>
          </a:xfrm>
          <a:prstGeom prst="line">
            <a:avLst/>
          </a:prstGeom>
          <a:noFill/>
          <a:ln w="25400">
            <a:solidFill>
              <a:srgbClr val="C81E1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isuals/corridor-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Cocalzinho de Goiás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33172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rota — não à margem dela.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63040" y="3538728"/>
            <a:ext cx="54864" cy="365760"/>
          </a:xfrm>
          <a:prstGeom prst="rect">
            <a:avLst/>
          </a:prstGeom>
          <a:solidFill>
            <a:srgbClr val="C81E1E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3429000"/>
            <a:ext cx="8991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BR-070, entre Ceilândia e o interior de Goiás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63040" y="4315968"/>
            <a:ext cx="54864" cy="365760"/>
          </a:xfrm>
          <a:prstGeom prst="rect">
            <a:avLst/>
          </a:prstGeom>
          <a:solidFill>
            <a:srgbClr val="C81E1E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4206240"/>
            <a:ext cx="8991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Passagem diária de famílias, produtores rurais e transportadoras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63040" y="5093208"/>
            <a:ext cx="54864" cy="365760"/>
          </a:xfrm>
          <a:prstGeom prst="rect">
            <a:avLst/>
          </a:prstGeom>
          <a:solidFill>
            <a:srgbClr val="C81E1E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4983480"/>
            <a:ext cx="8991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conexão entre Brasília e o Centro-Oeste produtivo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rgbClr val="8F8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CONTEXTO OBSERVADO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2788920"/>
            <a:ext cx="103628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rodovia estratégica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precisa de infraestrutura de apoio.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775808" y="4892040"/>
            <a:ext cx="640080" cy="0"/>
          </a:xfrm>
          <a:prstGeom prst="line">
            <a:avLst/>
          </a:prstGeom>
          <a:noFill/>
          <a:ln w="25400">
            <a:solidFill>
              <a:srgbClr val="C81E1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Hoje, entre Ceilândia e Cocalzinho,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existem poucas estruturas preparadas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atender esse fluxo crescente.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28800" y="4160520"/>
            <a:ext cx="8534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9B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pontos de parada seguros. Pouco apoio para veículos de grande porte. Pouca estrutura para quem viaja em família.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isuals-real/reve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68880"/>
            <a:ext cx="1219169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CENTRO DE SERVIÇOS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GIRASSOL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730088" y="4160520"/>
            <a:ext cx="731520" cy="0"/>
          </a:xfrm>
          <a:prstGeom prst="line">
            <a:avLst/>
          </a:prstGeom>
          <a:noFill/>
          <a:ln w="31750">
            <a:solidFill>
              <a:srgbClr val="C81E1E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um posto de combustíveis.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2971800"/>
            <a:ext cx="94484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equipamento urbano de apoio à mobilidade regional.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8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ESSA ESTRUTURA EXISTE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01102" y="1463040"/>
            <a:ext cx="1005840" cy="10058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E1E"/>
            </a:solidFill>
            <a:prstDash val="solid"/>
          </a:ln>
        </p:spPr>
      </p:sp>
      <p:pic>
        <p:nvPicPr>
          <p:cNvPr id="4" name="Image 0" descr="icons/truck-1A1A1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7990" y="170992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606040"/>
            <a:ext cx="27278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Transportadores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228986" y="1463040"/>
            <a:ext cx="1005840" cy="10058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E1E"/>
            </a:solidFill>
            <a:prstDash val="solid"/>
          </a:ln>
        </p:spPr>
      </p:sp>
      <p:pic>
        <p:nvPicPr>
          <p:cNvPr id="7" name="Image 1" descr="icons/wheat-1A1A1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874" y="170992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67964" y="2606040"/>
            <a:ext cx="27278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Agronegócio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956870" y="1463040"/>
            <a:ext cx="1005840" cy="10058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E1E"/>
            </a:solidFill>
            <a:prstDash val="solid"/>
          </a:ln>
        </p:spPr>
      </p:sp>
      <p:pic>
        <p:nvPicPr>
          <p:cNvPr id="10" name="Image 2" descr="icons/users-1A1A1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758" y="1709928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95848" y="2606040"/>
            <a:ext cx="27278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Famílias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9684753" y="1463040"/>
            <a:ext cx="1005840" cy="10058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E1E"/>
            </a:solidFill>
            <a:prstDash val="solid"/>
          </a:ln>
        </p:spPr>
      </p:sp>
      <p:pic>
        <p:nvPicPr>
          <p:cNvPr id="13" name="Image 3" descr="icons/layers-1A1A1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1641" y="1709928"/>
            <a:ext cx="512064" cy="512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823731" y="2606040"/>
            <a:ext cx="27278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1501102" y="3794760"/>
            <a:ext cx="1005840" cy="10058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E1E"/>
            </a:solidFill>
            <a:prstDash val="solid"/>
          </a:ln>
        </p:spPr>
      </p:sp>
      <p:pic>
        <p:nvPicPr>
          <p:cNvPr id="16" name="Image 4" descr="icons/home-1A1A1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7990" y="4041648"/>
            <a:ext cx="512064" cy="51206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40080" y="4937760"/>
            <a:ext cx="27278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4228986" y="3794760"/>
            <a:ext cx="1005840" cy="10058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E1E"/>
            </a:solidFill>
            <a:prstDash val="solid"/>
          </a:ln>
        </p:spPr>
      </p:sp>
      <p:pic>
        <p:nvPicPr>
          <p:cNvPr id="19" name="Image 5" descr="icons/shield-1A1A1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5874" y="4041648"/>
            <a:ext cx="512064" cy="51206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367964" y="4937760"/>
            <a:ext cx="27278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350" dirty="0"/>
          </a:p>
        </p:txBody>
      </p:sp>
      <p:sp>
        <p:nvSpPr>
          <p:cNvPr id="21" name="Shape 13"/>
          <p:cNvSpPr/>
          <p:nvPr/>
        </p:nvSpPr>
        <p:spPr>
          <a:xfrm>
            <a:off x="6956870" y="3794760"/>
            <a:ext cx="1005840" cy="10058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E1E"/>
            </a:solidFill>
            <a:prstDash val="solid"/>
          </a:ln>
        </p:spPr>
      </p:sp>
      <p:pic>
        <p:nvPicPr>
          <p:cNvPr id="22" name="Image 6" descr="icons/trend-1A1A1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3758" y="4041648"/>
            <a:ext cx="512064" cy="51206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095848" y="4937760"/>
            <a:ext cx="27278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local</a:t>
            </a:r>
            <a:endParaRPr lang="en-US" sz="1350" dirty="0"/>
          </a:p>
        </p:txBody>
      </p:sp>
      <p:sp>
        <p:nvSpPr>
          <p:cNvPr id="24" name="Shape 15"/>
          <p:cNvSpPr/>
          <p:nvPr/>
        </p:nvSpPr>
        <p:spPr>
          <a:xfrm>
            <a:off x="9684753" y="3794760"/>
            <a:ext cx="1005840" cy="10058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E1E"/>
            </a:solidFill>
            <a:prstDash val="solid"/>
          </a:ln>
        </p:spPr>
      </p:sp>
      <p:pic>
        <p:nvPicPr>
          <p:cNvPr id="25" name="Image 7" descr="icons/compass-1A1A1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1641" y="4041648"/>
            <a:ext cx="512064" cy="51206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823731" y="4937760"/>
            <a:ext cx="27278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regional</a:t>
            </a:r>
            <a:endParaRPr lang="en-US" sz="1350" dirty="0"/>
          </a:p>
        </p:txBody>
      </p:sp>
      <p:sp>
        <p:nvSpPr>
          <p:cNvPr id="28" name="Text 17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isuals-real/render-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C0C0B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62910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aérea — chegada e cobertura principal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isuals-real/render-0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C0C0B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02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62910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de apoio a caminhões e paisagismo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isuals-real/render-0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C0C0B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03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62910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Circulação, acessos e organização do pátio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isuals-real/render-0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C0C0B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62910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geral — integração com a paisagem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28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significa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Cocalzinho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briefcase-C81E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74520"/>
            <a:ext cx="32714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empregos diretos e indiretos</a:t>
            </a:r>
            <a:endParaRPr lang="en-US" sz="1550" dirty="0"/>
          </a:p>
        </p:txBody>
      </p:sp>
      <p:pic>
        <p:nvPicPr>
          <p:cNvPr id="4" name="Image 1" descr="icons/trend-C81E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258" y="1280160"/>
            <a:ext cx="4572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77258" y="1874520"/>
            <a:ext cx="32714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fluxo de arrecadação municipal</a:t>
            </a:r>
            <a:endParaRPr lang="en-US" sz="1550" dirty="0"/>
          </a:p>
        </p:txBody>
      </p:sp>
      <p:pic>
        <p:nvPicPr>
          <p:cNvPr id="6" name="Image 2" descr="icons/activity-C81E1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437" y="1280160"/>
            <a:ext cx="457200" cy="457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914437" y="1874520"/>
            <a:ext cx="32714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 econômico local</a:t>
            </a:r>
            <a:endParaRPr lang="en-US" sz="1550" dirty="0"/>
          </a:p>
        </p:txBody>
      </p:sp>
      <p:pic>
        <p:nvPicPr>
          <p:cNvPr id="8" name="Image 3" descr="icons/pin-C81E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57600"/>
            <a:ext cx="457200" cy="4572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0080" y="4251960"/>
            <a:ext cx="32714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Valorização da região ao longo da BR-070</a:t>
            </a:r>
            <a:endParaRPr lang="en-US" sz="1550" dirty="0"/>
          </a:p>
        </p:txBody>
      </p:sp>
      <p:pic>
        <p:nvPicPr>
          <p:cNvPr id="10" name="Image 4" descr="icons/wheat-C81E1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7258" y="3657600"/>
            <a:ext cx="457200" cy="4572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277258" y="4251960"/>
            <a:ext cx="32714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direto ao escoamento do agronegócio</a:t>
            </a:r>
            <a:endParaRPr lang="en-US" sz="1550" dirty="0"/>
          </a:p>
        </p:txBody>
      </p:sp>
      <p:pic>
        <p:nvPicPr>
          <p:cNvPr id="12" name="Image 5" descr="icons/layers-C81E1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4437" y="3657600"/>
            <a:ext cx="457200" cy="4572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914437" y="4251960"/>
            <a:ext cx="32714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logística regional</a:t>
            </a:r>
            <a:endParaRPr lang="en-US" sz="1550" dirty="0"/>
          </a:p>
        </p:txBody>
      </p:sp>
      <p:sp>
        <p:nvSpPr>
          <p:cNvPr id="15" name="Text 6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880360"/>
            <a:ext cx="103628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Parceria Institucional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775808" y="4892040"/>
            <a:ext cx="640080" cy="0"/>
          </a:xfrm>
          <a:prstGeom prst="line">
            <a:avLst/>
          </a:prstGeom>
          <a:noFill/>
          <a:ln w="25400">
            <a:solidFill>
              <a:srgbClr val="C81E1E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8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PARCERIA SE ORGANIZA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13572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00200"/>
            <a:ext cx="513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58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Apoio institucional ao projeto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458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Movimentação de solo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458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Relocação de dois postes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15888" y="1371600"/>
            <a:ext cx="5135728" cy="4206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6415888" y="1600200"/>
            <a:ext cx="513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PRIVADA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90208" y="2286000"/>
            <a:ext cx="458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Projeto técnico completo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90208" y="2944368"/>
            <a:ext cx="458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Execução integral da obra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90208" y="3602736"/>
            <a:ext cx="458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Operação da estrutura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90208" y="4261104"/>
            <a:ext cx="458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Investimento total do empreendimento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752562" y="2286000"/>
            <a:ext cx="640080" cy="64008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C8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52562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24078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9B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técnico entre as equipes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438362" y="2606040"/>
            <a:ext cx="1950644" cy="0"/>
          </a:xfrm>
          <a:prstGeom prst="line">
            <a:avLst/>
          </a:prstGeom>
          <a:noFill/>
          <a:ln w="12700">
            <a:solidFill>
              <a:srgbClr val="8F8D87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434726" y="2286000"/>
            <a:ext cx="640080" cy="64008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C8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726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50844" y="3154680"/>
            <a:ext cx="24078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9B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conjunta ao terreno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120526" y="2606040"/>
            <a:ext cx="1950644" cy="0"/>
          </a:xfrm>
          <a:prstGeom prst="line">
            <a:avLst/>
          </a:prstGeom>
          <a:noFill/>
          <a:ln w="12700">
            <a:solidFill>
              <a:srgbClr val="8F8D87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7116890" y="2286000"/>
            <a:ext cx="640080" cy="64008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C81E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1689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33008" y="3154680"/>
            <a:ext cx="24078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9B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da parceria institucional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802690" y="2606040"/>
            <a:ext cx="1950644" cy="0"/>
          </a:xfrm>
          <a:prstGeom prst="line">
            <a:avLst/>
          </a:prstGeom>
          <a:noFill/>
          <a:ln w="12700">
            <a:solidFill>
              <a:srgbClr val="8F8D87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9799053" y="2286000"/>
            <a:ext cx="640080" cy="64008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C81E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99053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15171" y="3154680"/>
            <a:ext cx="24078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9B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das obras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isuals/legacy-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“As grandes cidades não crescem por acaso.</a:t>
            </a:r>
            <a:endParaRPr lang="en-US" sz="2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 crescem porque alguém decidiu</a:t>
            </a:r>
            <a:endParaRPr lang="en-US" sz="2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acreditar antes dos outros.”</a:t>
            </a:r>
            <a:endParaRPr lang="en-US" sz="2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880360"/>
            <a:ext cx="103628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futuro não espera.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Apenas recompensa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se prepara para ele.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775808" y="4892040"/>
            <a:ext cx="640080" cy="0"/>
          </a:xfrm>
          <a:prstGeom prst="line">
            <a:avLst/>
          </a:prstGeom>
          <a:noFill/>
          <a:ln w="25400">
            <a:solidFill>
              <a:srgbClr val="C81E1E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Cocalzinho de Goiás.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0" y="32461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Pronta para o que vem a seguir.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8346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rgbClr val="8F8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SERVIÇOS GIRASSOL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32918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2026-07-22T00:16:32Z</dcterms:created>
  <dcterms:modified xsi:type="dcterms:W3CDTF">2026-07-22T00:16:32Z</dcterms:modified>
</cp:coreProperties>
</file>